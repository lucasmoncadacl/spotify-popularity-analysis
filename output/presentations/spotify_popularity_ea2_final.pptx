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74cfeb2d7d471b" /><Relationship Type="http://schemas.openxmlformats.org/officeDocument/2006/relationships/extended-properties" Target="/docProps/app.xml" Id="R0f1872ce67264360" /><Relationship Type="http://schemas.openxmlformats.org/officeDocument/2006/relationships/officeDocument" Target="/ppt/presentation.xml" Id="Raae270a7ffad46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ac69e5923141be"/>
  </p:sldMasterIdLst>
  <p:notesMasterIdLst>
    <p:notesMasterId xmlns:r="http://schemas.openxmlformats.org/officeDocument/2006/relationships" r:id="R8daef06dddac45df"/>
  </p:notesMasterIdLst>
  <p:sldIdLst>
    <p:sldId xmlns:r="http://schemas.openxmlformats.org/officeDocument/2006/relationships" id="256" r:id="Rfb8161d6d47f4c85"/>
    <p:sldId xmlns:r="http://schemas.openxmlformats.org/officeDocument/2006/relationships" id="257" r:id="R7f45811da4b64964"/>
    <p:sldId xmlns:r="http://schemas.openxmlformats.org/officeDocument/2006/relationships" id="258" r:id="R32b1d723530b4a7c"/>
    <p:sldId xmlns:r="http://schemas.openxmlformats.org/officeDocument/2006/relationships" id="259" r:id="R811e89786dda4c81"/>
    <p:sldId xmlns:r="http://schemas.openxmlformats.org/officeDocument/2006/relationships" id="260" r:id="R58b771f1387a48ed"/>
    <p:sldId xmlns:r="http://schemas.openxmlformats.org/officeDocument/2006/relationships" id="261" r:id="R893b9c0d5c454fef"/>
    <p:sldId xmlns:r="http://schemas.openxmlformats.org/officeDocument/2006/relationships" id="262" r:id="R4eb428e30a07481b"/>
    <p:sldId xmlns:r="http://schemas.openxmlformats.org/officeDocument/2006/relationships" id="263" r:id="R31582b0e062d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12969dfd7d43b1" /><Relationship Type="http://schemas.openxmlformats.org/officeDocument/2006/relationships/slideMaster" Target="/ppt/slideMasters/slideMaster1.xml" Id="R71ac69e5923141be" /><Relationship Type="http://schemas.openxmlformats.org/officeDocument/2006/relationships/notesMaster" Target="/ppt/notesMasters/notesMaster1.xml" Id="R8daef06dddac45df" /><Relationship Type="http://schemas.openxmlformats.org/officeDocument/2006/relationships/presProps" Target="/ppt/presProps.xml" Id="Rcfc4bcbb3b6e49c6" /><Relationship Type="http://schemas.openxmlformats.org/officeDocument/2006/relationships/tableStyles" Target="/ppt/tableStyles.xml" Id="R307061d60b784935" /><Relationship Type="http://schemas.openxmlformats.org/officeDocument/2006/relationships/slide" Target="/ppt/slides/slide1.xml" Id="Rfb8161d6d47f4c85" /><Relationship Type="http://schemas.openxmlformats.org/officeDocument/2006/relationships/slide" Target="/ppt/slides/slide2.xml" Id="R7f45811da4b64964" /><Relationship Type="http://schemas.openxmlformats.org/officeDocument/2006/relationships/slide" Target="/ppt/slides/slide3.xml" Id="R32b1d723530b4a7c" /><Relationship Type="http://schemas.openxmlformats.org/officeDocument/2006/relationships/slide" Target="/ppt/slides/slide4.xml" Id="R811e89786dda4c81" /><Relationship Type="http://schemas.openxmlformats.org/officeDocument/2006/relationships/slide" Target="/ppt/slides/slide5.xml" Id="R58b771f1387a48ed" /><Relationship Type="http://schemas.openxmlformats.org/officeDocument/2006/relationships/slide" Target="/ppt/slides/slide6.xml" Id="R893b9c0d5c454fef" /><Relationship Type="http://schemas.openxmlformats.org/officeDocument/2006/relationships/slide" Target="/ppt/slides/slide7.xml" Id="R4eb428e30a07481b" /><Relationship Type="http://schemas.openxmlformats.org/officeDocument/2006/relationships/slide" Target="/ppt/slides/slide8.xml" Id="R31582b0e062d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0c92295d44c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e0ea2c80b45a5" /><Relationship Type="http://schemas.openxmlformats.org/officeDocument/2006/relationships/notesMaster" Target="/ppt/notesMasters/notesMaster1.xml" Id="R2eebe3a51c9e41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e3af14d67435d" /><Relationship Type="http://schemas.openxmlformats.org/officeDocument/2006/relationships/notesMaster" Target="/ppt/notesMasters/notesMaster1.xml" Id="Rd1503d14216b41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879420dd4141ca" /><Relationship Type="http://schemas.openxmlformats.org/officeDocument/2006/relationships/notesMaster" Target="/ppt/notesMasters/notesMaster1.xml" Id="Ra104c25423e5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1bcc0c04da4ffd" /><Relationship Type="http://schemas.openxmlformats.org/officeDocument/2006/relationships/notesMaster" Target="/ppt/notesMasters/notesMaster1.xml" Id="R5bb36c963acf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97264052194883" /><Relationship Type="http://schemas.openxmlformats.org/officeDocument/2006/relationships/notesMaster" Target="/ppt/notesMasters/notesMaster1.xml" Id="Rd973532be2cf42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f2cff584634032" /><Relationship Type="http://schemas.openxmlformats.org/officeDocument/2006/relationships/notesMaster" Target="/ppt/notesMasters/notesMaster1.xml" Id="R016c93a3a04846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c9fc8c9db34f3a" /><Relationship Type="http://schemas.openxmlformats.org/officeDocument/2006/relationships/notesMaster" Target="/ppt/notesMasters/notesMaster1.xml" Id="Re93aa5fa5dca4e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43f0991d442de" /><Relationship Type="http://schemas.openxmlformats.org/officeDocument/2006/relationships/notesMaster" Target="/ppt/notesMasters/notesMaster1.xml" Id="R81330b482e6249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objetivo y el equipo. Tiempo sugerido: 20 segundos. El análisis estudia popularidad histórica de las canciones de Spotify Tracks.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 y notebooks 01–03. Son 114 géneros con 1.000 filas cada uno en el archivo original. La preparación consolida IDs y reúne las etiquetas de género. Tiempo: 1 minuto.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notebooks/05_model_comparison.ipynb y src/spotify_popularity/modeling/protocol.py. Ridge y los codificadores se ajustan dentro del pipeline. La partición agrupada tiene selección de parámetros en su propia validación. Tiempo: 1 minuto.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de notebooks/05_model_comparison.ipynb. Dummy: MAE 17,250, RMSE 20,612, R² aproximadamente 0. Ridge α=0,1: MAE 11,915, RMSE 16,643, R² 0,348. Árbol max_depth=15, min_samples_leaf=20: MAE 14,508, RMSE 18,460, R² 0,198. Tiempo: 1 minuto.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notebooks/05_model_comparison.ipynb y 04b_modeling_ignacio.ipynb. En la prueba agrupada hay 3.528 artistas principales reservados, cero solapamientos principales y 2.633 canciones con colaboradores secundarios presentes en entrenamiento. Diferencias de MAE por tratamiento dentro del redondeo de tres decimales. Tiempo: 1 minuto.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notebooks/05_model_comparison.ipynb. Los soportes de los cuatro rangos son 1.863, 7.361, 8.071 y 653, respectivamente. Ridge completo recupera 159 de 653 canciones ≥70 entre las 1.795 mejor puntuadas. Tiempo: 1 minuto.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figura procede de reports/figures/ea2/04c_cesar_clusters_pca.png y el resultado se reproduce en notebooks/05_model_comparison.ipynb. K=2 fue la solución elegida entre grupos con al menos 1 % de soporte. Silueta 0,245. Duración log1p conserva ARI 0,968; retirar loudness baja a 0,807. Tiempo: 1 minuto.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 y notebooks/05_model_comparison.ipynb. La popularidad es histórica y no equivale a calidad artística. Cerrar con supervisión humana y oportunidad de preguntas. Tiempo: 1 minuto.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86e2cf5a54e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699897fd24d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8820269a34e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8c339d8a346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043ea4fd04b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5cf9760b84f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7BC479-9407-4C05-8778-8F5272961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EBBDF6-6BF1-42D3-BB64-47E40D04B2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A704B0-DBEA-4A37-B59B-D3BAA1166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0806B5-5963-4964-AC37-313F9973E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B536F0-DE27-4D82-AD4F-490FF35615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A6A7A7-96CD-4375-8285-C69FE712B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9470F8-326A-4FDD-BDB3-ACEBA9B8B3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AC3E82-CC5C-4D09-BAA7-9B45E5F052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E0DF8C-AD0C-48AA-8710-AB6DC4536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76CFBE-4727-4B0E-9883-24481D110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9abe46739444d6" /><Relationship Type="http://schemas.openxmlformats.org/officeDocument/2006/relationships/slideLayout" Target="/ppt/slideLayouts/slideLayout1.xml" Id="Re8ffbc89929f45e6" /><Relationship Type="http://schemas.openxmlformats.org/officeDocument/2006/relationships/slideLayout" Target="/ppt/slideLayouts/slideLayout2.xml" Id="R359aaab88e0d4906" /><Relationship Type="http://schemas.openxmlformats.org/officeDocument/2006/relationships/slideLayout" Target="/ppt/slideLayouts/slideLayout3.xml" Id="Rb187d6230a114aa3" /><Relationship Type="http://schemas.openxmlformats.org/officeDocument/2006/relationships/slideLayout" Target="/ppt/slideLayouts/slideLayout4.xml" Id="R0f089cada8d044a0" /><Relationship Type="http://schemas.openxmlformats.org/officeDocument/2006/relationships/slideLayout" Target="/ppt/slideLayouts/slideLayout5.xml" Id="R040f52ebb7704278" /><Relationship Type="http://schemas.openxmlformats.org/officeDocument/2006/relationships/slideLayout" Target="/ppt/slideLayouts/slideLayout6.xml" Id="R69f9575e2bd246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ffbc89929f45e6"/>
    <p:sldLayoutId xmlns:r="http://schemas.openxmlformats.org/officeDocument/2006/relationships" id="2147483650" r:id="R359aaab88e0d4906"/>
    <p:sldLayoutId xmlns:r="http://schemas.openxmlformats.org/officeDocument/2006/relationships" id="2147483651" r:id="Rb187d6230a114aa3"/>
    <p:sldLayoutId xmlns:r="http://schemas.openxmlformats.org/officeDocument/2006/relationships" id="2147483652" r:id="R0f089cada8d044a0"/>
    <p:sldLayoutId xmlns:r="http://schemas.openxmlformats.org/officeDocument/2006/relationships" id="2147483653" r:id="R040f52ebb7704278"/>
    <p:sldLayoutId xmlns:r="http://schemas.openxmlformats.org/officeDocument/2006/relationships" id="2147483654" r:id="R69f9575e2bd246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54efacce74552" /><Relationship Type="http://schemas.openxmlformats.org/officeDocument/2006/relationships/notesSlide" Target="/ppt/notesSlides/notesSlide1.xml" Id="R9bcc20e16d1840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e35c3731c449a" /><Relationship Type="http://schemas.openxmlformats.org/officeDocument/2006/relationships/notesSlide" Target="/ppt/notesSlides/notesSlide2.xml" Id="Rfd859e6efe234d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3fe373f524a83" /><Relationship Type="http://schemas.openxmlformats.org/officeDocument/2006/relationships/notesSlide" Target="/ppt/notesSlides/notesSlide3.xml" Id="Rdd4eb7cfa51e43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56fdf7f834198" /><Relationship Type="http://schemas.openxmlformats.org/officeDocument/2006/relationships/chart" Target="/ppt/slides/charts/chart1.xml" Id="Re6e912b63bf74977" /><Relationship Type="http://schemas.openxmlformats.org/officeDocument/2006/relationships/notesSlide" Target="/ppt/notesSlides/notesSlide4.xml" Id="R77c8e167b38a42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8e5ed2d1b48cb" /><Relationship Type="http://schemas.openxmlformats.org/officeDocument/2006/relationships/notesSlide" Target="/ppt/notesSlides/notesSlide5.xml" Id="Rfc218f1ee90d44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ece3392924bc7" /><Relationship Type="http://schemas.openxmlformats.org/officeDocument/2006/relationships/chart" Target="/ppt/slides/charts/chart2.xml" Id="Rbbebbf6c1701486b" /><Relationship Type="http://schemas.openxmlformats.org/officeDocument/2006/relationships/notesSlide" Target="/ppt/notesSlides/notesSlide6.xml" Id="Rdc73208d8ced46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8858f15484044" /><Relationship Type="http://schemas.openxmlformats.org/officeDocument/2006/relationships/image" Target="/ppt/media/image.png" Id="R2dd97c1ed54f4553" /><Relationship Type="http://schemas.openxmlformats.org/officeDocument/2006/relationships/notesSlide" Target="/ppt/notesSlides/notesSlide7.xml" Id="R470d719d70da44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3100cc4e34baa" /><Relationship Type="http://schemas.openxmlformats.org/officeDocument/2006/relationships/notesSlide" Target="/ppt/notesSlides/notesSlide8.xml" Id="R6b6db4be7a0a43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DB954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Dummy mediana</c:v>
                </c:pt>
                <c:pt idx="1">
                  <c:v>Árbol completo</c:v>
                </c:pt>
                <c:pt idx="2">
                  <c:v>Ridge completo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17.25</c:v>
                </c:pt>
                <c:pt idx="1">
                  <c:v>14.508</c:v>
                </c:pt>
                <c:pt idx="2">
                  <c:v>11.915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latin typeface="Arial"/>
                    <a:ea typeface="Arial"/>
                    <a:cs typeface="Arial"/>
                  </a:rPr>
                  <a:t>MAE (puntos)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D9813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Popularidad 0</c:v>
                </c:pt>
                <c:pt idx="1">
                  <c:v>(0,35)</c:v>
                </c:pt>
                <c:pt idx="2">
                  <c:v>[35,70)</c:v>
                </c:pt>
                <c:pt idx="3">
                  <c:v>[70,100]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24.448</c:v>
                </c:pt>
                <c:pt idx="1">
                  <c:v>8.04</c:v>
                </c:pt>
                <c:pt idx="2">
                  <c:v>10.546</c:v>
                </c:pt>
                <c:pt idx="3">
                  <c:v>36.759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latin typeface="Arial"/>
                    <a:ea typeface="Arial"/>
                    <a:cs typeface="Arial"/>
                  </a:rPr>
                  <a:t>MAE (puntos)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principal">
            <a:extLst xmlns:a="http://schemas.openxmlformats.org/drawingml/2006/main">
              <a:ext uri="{FF2B5EF4-FFF2-40B4-BE49-F238E27FC236}">
                <a16:creationId xmlns:a16="http://schemas.microsoft.com/office/drawing/2014/main" id="{72854433-4F7A-4E09-B711-53BB5735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819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Popularidad de canciones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 Spotify</a:t>
            </a:r>
          </a:p>
        </p:txBody>
      </p:sp>
      <p:sp>
        <p:nvSpPr>
          <p:cNvPr id="2" name="Modelamiento y evaluación · Evaluación Parcial 2">
            <a:extLst xmlns:a="http://schemas.openxmlformats.org/drawingml/2006/main">
              <a:ext uri="{FF2B5EF4-FFF2-40B4-BE49-F238E27FC236}">
                <a16:creationId xmlns:a16="http://schemas.microsoft.com/office/drawing/2014/main" id="{7CFFC056-AFD4-491A-A21E-6221F562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6D7CC"/>
                </a:solidFill>
                <a:latin typeface="Arial"/>
                <a:ea typeface="Arial"/>
                <a:cs typeface="Arial"/>
              </a:rPr>
              <a:t>Modelamiento y evaluación · Evaluación Parcial 2</a:t>
            </a:r>
          </a:p>
        </p:txBody>
      </p:sp>
      <p:sp>
        <p:nvSpPr>
          <p:cNvPr id="3" name="Lucas Moncada · Ignacio Silva · César Rojas">
            <a:extLst xmlns:a="http://schemas.openxmlformats.org/drawingml/2006/main">
              <a:ext uri="{FF2B5EF4-FFF2-40B4-BE49-F238E27FC236}">
                <a16:creationId xmlns:a16="http://schemas.microsoft.com/office/drawing/2014/main" id="{0EAC09DD-3673-456A-8EF9-F5D43E1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Lucas Moncada · Ignacio Silva · César Rojas</a:t>
            </a:r>
          </a:p>
        </p:txBody>
      </p:sp>
      <p:sp>
        <p:nvSpPr>
          <p:cNvPr id="4" name="Machine Learning · 2026">
            <a:extLst xmlns:a="http://schemas.openxmlformats.org/drawingml/2006/main">
              <a:ext uri="{FF2B5EF4-FFF2-40B4-BE49-F238E27FC236}">
                <a16:creationId xmlns:a16="http://schemas.microsoft.com/office/drawing/2014/main" id="{DEC33A10-6591-4D55-874F-B1A60BB3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6D7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7CC"/>
                </a:solidFill>
                <a:latin typeface="Arial"/>
                <a:ea typeface="Arial"/>
                <a:cs typeface="Arial"/>
              </a:rPr>
              <a:t>Machine Learning · 2026</a:t>
            </a:r>
          </a:p>
        </p:txBody>
      </p:sp>
    </p:spTree>
    <p:extLst>
      <p:ext uri="{BB962C8B-B14F-4D97-AF65-F5344CB8AC3E}">
        <p14:creationId xmlns:p14="http://schemas.microsoft.com/office/powerpoint/2010/main" val="10947198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ítulo 2">
            <a:extLst xmlns:a="http://schemas.openxmlformats.org/drawingml/2006/main">
              <a:ext uri="{FF2B5EF4-FFF2-40B4-BE49-F238E27FC236}">
                <a16:creationId xmlns:a16="http://schemas.microsoft.com/office/drawing/2014/main" id="{B00E6BB3-143A-48F0-9AC7-9BCB7914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Problema y fuente de datos</a:t>
            </a:r>
          </a:p>
        </p:txBody>
      </p:sp>
      <p:sp>
        <p:nvSpPr>
          <p:cNvPr id="2" name="Página 2">
            <a:extLst xmlns:a="http://schemas.openxmlformats.org/drawingml/2006/main">
              <a:ext uri="{FF2B5EF4-FFF2-40B4-BE49-F238E27FC236}">
                <a16:creationId xmlns:a16="http://schemas.microsoft.com/office/drawing/2014/main" id="{3E8705FE-5B15-4AD1-85D3-39591D1D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  <p:sp>
        <p:nvSpPr>
          <p:cNvPr id="3" name="Pregunta">
            <a:extLst xmlns:a="http://schemas.openxmlformats.org/drawingml/2006/main">
              <a:ext uri="{FF2B5EF4-FFF2-40B4-BE49-F238E27FC236}">
                <a16:creationId xmlns:a16="http://schemas.microsoft.com/office/drawing/2014/main" id="{1C8346C1-738F-418A-AC1D-C36E49E9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DB954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4" name="¿Qué atributos musicales y contextuales se asocian con la po">
            <a:extLst xmlns:a="http://schemas.openxmlformats.org/drawingml/2006/main">
              <a:ext uri="{FF2B5EF4-FFF2-40B4-BE49-F238E27FC236}">
                <a16:creationId xmlns:a16="http://schemas.microsoft.com/office/drawing/2014/main" id="{4CF09530-5FDE-4DB0-B278-5EBF369C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619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¿Qué atributos musicales y contextuales se asocian con la popularidad observada?</a:t>
            </a:r>
          </a:p>
        </p:txBody>
      </p:sp>
      <p:sp>
        <p:nvSpPr>
          <p:cNvPr id="5" name="89.740">
            <a:extLst xmlns:a="http://schemas.openxmlformats.org/drawingml/2006/main">
              <a:ext uri="{FF2B5EF4-FFF2-40B4-BE49-F238E27FC236}">
                <a16:creationId xmlns:a16="http://schemas.microsoft.com/office/drawing/2014/main" id="{F2922EDE-8994-4C9E-BAE6-66083D22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DB954"/>
                </a:solidFill>
                <a:latin typeface="Arial"/>
                <a:ea typeface="Arial"/>
                <a:cs typeface="Arial"/>
              </a:rPr>
              <a:t>89.740</a:t>
            </a:r>
          </a:p>
        </p:txBody>
      </p:sp>
      <p:sp>
        <p:nvSpPr>
          <p:cNvPr id="6" name="canciones únicas tras consolidar 114.000 filas originales">
            <a:extLst xmlns:a="http://schemas.openxmlformats.org/drawingml/2006/main">
              <a:ext uri="{FF2B5EF4-FFF2-40B4-BE49-F238E27FC236}">
                <a16:creationId xmlns:a16="http://schemas.microsoft.com/office/drawing/2014/main" id="{3FD9AB13-034A-4642-92E2-0443C00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canciones únicas tras consolidar 114.000 filas originales</a:t>
            </a:r>
          </a:p>
        </p:txBody>
      </p:sp>
      <p:sp>
        <p:nvSpPr>
          <p:cNvPr id="7" name="La popularidad va de 0 a 100 y es histórica. El dataset repi">
            <a:extLst xmlns:a="http://schemas.openxmlformats.org/drawingml/2006/main">
              <a:ext uri="{FF2B5EF4-FFF2-40B4-BE49-F238E27FC236}">
                <a16:creationId xmlns:a16="http://schemas.microsoft.com/office/drawing/2014/main" id="{5CD809EC-3DCC-4D8A-BFD5-954CFC8A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19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La popularidad va de 0 a 100 y es histórica. El dataset repite etiquetas de género de forma balanceada, por lo que no representa la mezcla natural del catálogo.</a:t>
            </a:r>
          </a:p>
        </p:txBody>
      </p:sp>
    </p:spTree>
    <p:extLst>
      <p:ext uri="{BB962C8B-B14F-4D97-AF65-F5344CB8AC3E}">
        <p14:creationId xmlns:p14="http://schemas.microsoft.com/office/powerpoint/2010/main" val="822415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ítulo 3">
            <a:extLst xmlns:a="http://schemas.openxmlformats.org/drawingml/2006/main">
              <a:ext uri="{FF2B5EF4-FFF2-40B4-BE49-F238E27FC236}">
                <a16:creationId xmlns:a16="http://schemas.microsoft.com/office/drawing/2014/main" id="{BF40C7B5-D2CB-421E-A79B-3A58AB33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Preparación y protocolo de evaluación</a:t>
            </a:r>
          </a:p>
        </p:txBody>
      </p:sp>
      <p:sp>
        <p:nvSpPr>
          <p:cNvPr id="2" name="Página 3">
            <a:extLst xmlns:a="http://schemas.openxmlformats.org/drawingml/2006/main">
              <a:ext uri="{FF2B5EF4-FFF2-40B4-BE49-F238E27FC236}">
                <a16:creationId xmlns:a16="http://schemas.microsoft.com/office/drawing/2014/main" id="{B3D93896-D4D4-412C-AA72-4ECB1DD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  <p:sp>
        <p:nvSpPr>
          <p:cNvPr id="3" name="Una fila por canción">
            <a:extLst xmlns:a="http://schemas.openxmlformats.org/drawingml/2006/main">
              <a:ext uri="{FF2B5EF4-FFF2-40B4-BE49-F238E27FC236}">
                <a16:creationId xmlns:a16="http://schemas.microsoft.com/office/drawing/2014/main" id="{49BE16B7-0852-401C-B5DA-EA351A97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Una fila por canción</a:t>
            </a:r>
          </a:p>
        </p:txBody>
      </p:sp>
      <p:sp>
        <p:nvSpPr>
          <p:cNvPr id="4" name="Se eliminaron 1 fila inválida y 24.259 apariciones repetidas">
            <a:extLst xmlns:a="http://schemas.openxmlformats.org/drawingml/2006/main">
              <a:ext uri="{FF2B5EF4-FFF2-40B4-BE49-F238E27FC236}">
                <a16:creationId xmlns:a16="http://schemas.microsoft.com/office/drawing/2014/main" id="{BC80A34B-1B76-4740-8FB6-DC9ECA27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Se eliminaron 1 fila inválida y 24.259 apariciones repetidas de track_id. Los géneros se mantienen como etiquetas múltiples.</a:t>
            </a:r>
          </a:p>
        </p:txBody>
      </p:sp>
      <p:sp>
        <p:nvSpPr>
          <p:cNvPr id="5" name="Prueba aleatoria">
            <a:extLst xmlns:a="http://schemas.openxmlformats.org/drawingml/2006/main">
              <a:ext uri="{FF2B5EF4-FFF2-40B4-BE49-F238E27FC236}">
                <a16:creationId xmlns:a16="http://schemas.microsoft.com/office/drawing/2014/main" id="{677B5A52-6FE4-4384-957C-0C6C8AD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Prueba aleatoria</a:t>
            </a:r>
          </a:p>
        </p:txBody>
      </p:sp>
      <p:sp>
        <p:nvSpPr>
          <p:cNvPr id="6" name="80/20 por canción · semilla 42&#10;Validación separada dentro de">
            <a:extLst xmlns:a="http://schemas.openxmlformats.org/drawingml/2006/main">
              <a:ext uri="{FF2B5EF4-FFF2-40B4-BE49-F238E27FC236}">
                <a16:creationId xmlns:a16="http://schemas.microsoft.com/office/drawing/2014/main" id="{83617EFF-2E8C-4371-91F0-939058E4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80/20 por canción · semilla 42</a:t>
            </a:r>
          </a:p>
          <a:p xmlns:a="http://schemas.openxmlformats.org/drawingml/2006/main">
            <a: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Validación separada dentro del entrenamiento</a:t>
            </a:r>
          </a:p>
          <a:p xmlns:a="http://schemas.openxmlformats.org/drawingml/2006/main">
            <a: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Prueba reservada hasta fijar parámetros</a:t>
            </a:r>
          </a:p>
        </p:txBody>
      </p:sp>
      <p:sp>
        <p:nvSpPr>
          <p:cNvPr id="7" name="Prueba agrupada independiente">
            <a:extLst xmlns:a="http://schemas.openxmlformats.org/drawingml/2006/main">
              <a:ext uri="{FF2B5EF4-FFF2-40B4-BE49-F238E27FC236}">
                <a16:creationId xmlns:a16="http://schemas.microsoft.com/office/drawing/2014/main" id="{2D803634-679C-4968-9F8B-A52FFE33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Prueba agrupada independiente</a:t>
            </a:r>
          </a:p>
        </p:txBody>
      </p:sp>
      <p:sp>
        <p:nvSpPr>
          <p:cNvPr id="8" name="Se reservaron artistas principales completos. No hay artista">
            <a:extLst xmlns:a="http://schemas.openxmlformats.org/drawingml/2006/main">
              <a:ext uri="{FF2B5EF4-FFF2-40B4-BE49-F238E27FC236}">
                <a16:creationId xmlns:a16="http://schemas.microsoft.com/office/drawing/2014/main" id="{6E66F04D-A7FC-4168-A364-4473C4C7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Se reservaron artistas principales completos. No hay artistas principales compartidos; 2.633 canciones de prueba incluyen colaboradores secundarios presentes en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700362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4">
            <a:extLst xmlns:a="http://schemas.openxmlformats.org/drawingml/2006/main">
              <a:ext uri="{FF2B5EF4-FFF2-40B4-BE49-F238E27FC236}">
                <a16:creationId xmlns:a16="http://schemas.microsoft.com/office/drawing/2014/main" id="{44E8A87B-9A4B-4594-87A7-8585A2CE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Ridge mejora la referencia en la prueba aleatoria</a:t>
            </a:r>
          </a:p>
        </p:txBody>
      </p:sp>
      <p:sp>
        <p:nvSpPr>
          <p:cNvPr id="2" name="Página 4">
            <a:extLst xmlns:a="http://schemas.openxmlformats.org/drawingml/2006/main">
              <a:ext uri="{FF2B5EF4-FFF2-40B4-BE49-F238E27FC236}">
                <a16:creationId xmlns:a16="http://schemas.microsoft.com/office/drawing/2014/main" id="{7C6D71FC-4C21-45DB-B851-49F08143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  <p:sp>
        <p:nvSpPr>
          <p:cNvPr id="3" name="Error medio en puntos de popularidad. Menor es mejor.">
            <a:extLst xmlns:a="http://schemas.openxmlformats.org/drawingml/2006/main">
              <a:ext uri="{FF2B5EF4-FFF2-40B4-BE49-F238E27FC236}">
                <a16:creationId xmlns:a16="http://schemas.microsoft.com/office/drawing/2014/main" id="{7D45A5DA-BBBC-4A76-93E6-8DDB0D1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Error medio en puntos de popularidad. Menor es mejor.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8AA7800-B273-47CB-8F60-5CFFCC5E9945}"/>
              </a:ext>
            </a:extLst>
          </p:cNvPr>
          <p:cNvGraphicFramePr/>
          <p:nvPr/>
        </p:nvGraphicFramePr>
        <p:xfrm>
          <a:off xmlns:a="http://schemas.openxmlformats.org/drawingml/2006/main" x="838200" y="1638300"/>
          <a:ext xmlns:a="http://schemas.openxmlformats.org/drawingml/2006/main" cx="6191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e912b63bf74977"/>
          </a:graphicData>
        </a:graphic>
      </p:graphicFrame>
      <p:sp>
        <p:nvSpPr>
          <p:cNvPr id="5" name="Ridge completo&#10;MAE 11,915&#10;RMSE 16,643&#10;R² 0,348&#10;&#10;30,9 % menos">
            <a:extLst xmlns:a="http://schemas.openxmlformats.org/drawingml/2006/main">
              <a:ext uri="{FF2B5EF4-FFF2-40B4-BE49-F238E27FC236}">
                <a16:creationId xmlns:a16="http://schemas.microsoft.com/office/drawing/2014/main" id="{AF4046BB-2E7D-4CAC-90B1-143EE289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33575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Ridge completo</a:t>
            </a:r>
          </a:p>
          <a:p xmlns:a="http://schemas.openxmlformats.org/drawingml/2006/main">
            <a: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MAE 11,915</a:t>
            </a:r>
          </a:p>
          <a:p xmlns:a="http://schemas.openxmlformats.org/drawingml/2006/main">
            <a: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RMSE 16,643</a:t>
            </a:r>
          </a:p>
          <a:p xmlns:a="http://schemas.openxmlformats.org/drawingml/2006/main">
            <a: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R² 0,348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30,9 % menos MAE que Dummy</a:t>
            </a:r>
          </a:p>
        </p:txBody>
      </p:sp>
      <p:sp>
        <p:nvSpPr>
          <p:cNvPr id="6" name="En la misma prueba, el árbol completo obtuvo MAE 14,508 y R²">
            <a:extLst xmlns:a="http://schemas.openxmlformats.org/drawingml/2006/main">
              <a:ext uri="{FF2B5EF4-FFF2-40B4-BE49-F238E27FC236}">
                <a16:creationId xmlns:a16="http://schemas.microsoft.com/office/drawing/2014/main" id="{CEB721F4-F54A-4D0E-A0C0-93D5CA89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En la misma prueba, el árbol completo obtuvo MAE 14,508 y R² 0,198.</a:t>
            </a:r>
          </a:p>
        </p:txBody>
      </p:sp>
    </p:spTree>
    <p:extLst>
      <p:ext uri="{BB962C8B-B14F-4D97-AF65-F5344CB8AC3E}">
        <p14:creationId xmlns:p14="http://schemas.microsoft.com/office/powerpoint/2010/main" val="1873121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ítulo 5">
            <a:extLst xmlns:a="http://schemas.openxmlformats.org/drawingml/2006/main">
              <a:ext uri="{FF2B5EF4-FFF2-40B4-BE49-F238E27FC236}">
                <a16:creationId xmlns:a16="http://schemas.microsoft.com/office/drawing/2014/main" id="{F9954129-56FD-411F-AC77-ABCDF649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La señal se mantiene al reservar artistas principales</a:t>
            </a:r>
          </a:p>
        </p:txBody>
      </p:sp>
      <p:sp>
        <p:nvSpPr>
          <p:cNvPr id="2" name="Página 5">
            <a:extLst xmlns:a="http://schemas.openxmlformats.org/drawingml/2006/main">
              <a:ext uri="{FF2B5EF4-FFF2-40B4-BE49-F238E27FC236}">
                <a16:creationId xmlns:a16="http://schemas.microsoft.com/office/drawing/2014/main" id="{378E73D0-4A9F-47C9-98B8-AC41F5FA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3" name="Prueba agrupada por artista">
            <a:extLst xmlns:a="http://schemas.openxmlformats.org/drawingml/2006/main">
              <a:ext uri="{FF2B5EF4-FFF2-40B4-BE49-F238E27FC236}">
                <a16:creationId xmlns:a16="http://schemas.microsoft.com/office/drawing/2014/main" id="{E697657A-9DD0-4D00-8EDA-1699B9A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Prueba agrupada por artista</a:t>
            </a:r>
          </a:p>
        </p:txBody>
      </p:sp>
      <p:sp>
        <p:nvSpPr>
          <p:cNvPr id="4" name="Ridge completo: MAE 12,102 · RMSE 16,740 · R² 0,302&#10;Dummy me">
            <a:extLst xmlns:a="http://schemas.openxmlformats.org/drawingml/2006/main">
              <a:ext uri="{FF2B5EF4-FFF2-40B4-BE49-F238E27FC236}">
                <a16:creationId xmlns:a16="http://schemas.microsoft.com/office/drawing/2014/main" id="{C4E9E7D4-8267-446D-8A58-80280EFE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Ridge completo: MAE 12,102 · RMSE 16,740 · R² 0,302</a:t>
            </a:r>
          </a:p>
          <a:p xmlns:a="http://schemas.openxmlformats.org/drawingml/2006/main">
            <a: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Dummy mediana: MAE 16,707</a:t>
            </a:r>
          </a:p>
          <a:p xmlns:a="http://schemas.openxmlformats.org/drawingml/2006/main">
            <a: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Mejora de MAE: 27,6 %</a:t>
            </a:r>
          </a:p>
        </p:txBody>
      </p:sp>
      <p:sp>
        <p:nvSpPr>
          <p:cNvPr id="5" name="Sensibilidad del tratamiento">
            <a:extLst xmlns:a="http://schemas.openxmlformats.org/drawingml/2006/main">
              <a:ext uri="{FF2B5EF4-FFF2-40B4-BE49-F238E27FC236}">
                <a16:creationId xmlns:a16="http://schemas.microsoft.com/office/drawing/2014/main" id="{F142D6EA-B30B-4B4C-9917-28085045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Sensibilidad del tratamiento</a:t>
            </a:r>
          </a:p>
        </p:txBody>
      </p:sp>
      <p:sp>
        <p:nvSpPr>
          <p:cNvPr id="6" name="Ridge estándar: MAE 11,915&#10;log1p de duración: 11,914&#10;Escalad">
            <a:extLst xmlns:a="http://schemas.openxmlformats.org/drawingml/2006/main">
              <a:ext uri="{FF2B5EF4-FFF2-40B4-BE49-F238E27FC236}">
                <a16:creationId xmlns:a16="http://schemas.microsoft.com/office/drawing/2014/main" id="{8301E14D-3807-4BDB-923A-812ED5BD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Ridge estándar: MAE 11,915</a:t>
            </a:r>
          </a:p>
          <a:p xmlns:a="http://schemas.openxmlformats.org/drawingml/2006/main">
            <a: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log1p de duración: 11,914</a:t>
            </a:r>
          </a:p>
          <a:p xmlns:a="http://schemas.openxmlformats.org/drawingml/2006/main">
            <a: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Escalado robusto: 11,915</a:t>
            </a:r>
          </a:p>
          <a:p xmlns:a="http://schemas.openxmlformats.org/drawingml/2006/main">
            <a:pPr algn="l">
              <a:defRPr sz="1875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Combinación: 11,914</a:t>
            </a:r>
          </a:p>
        </p:txBody>
      </p:sp>
      <p:sp>
        <p:nvSpPr>
          <p:cNvPr id="7" name="El cambio de escala y duración apenas modifica el MAE. La pa">
            <a:extLst xmlns:a="http://schemas.openxmlformats.org/drawingml/2006/main">
              <a:ext uri="{FF2B5EF4-FFF2-40B4-BE49-F238E27FC236}">
                <a16:creationId xmlns:a16="http://schemas.microsoft.com/office/drawing/2014/main" id="{71B24278-0198-42C2-AEA8-84CE0AB2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19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El cambio de escala y duración apenas modifica el MAE. La partición por artista mide transferencia a principales no vistos; no elimina todo el solapamiento de colaboraciones.</a:t>
            </a:r>
          </a:p>
        </p:txBody>
      </p:sp>
    </p:spTree>
    <p:extLst>
      <p:ext uri="{BB962C8B-B14F-4D97-AF65-F5344CB8AC3E}">
        <p14:creationId xmlns:p14="http://schemas.microsoft.com/office/powerpoint/2010/main" val="1640431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F28397B0-7421-4126-85A0-1D131D20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El error crece en las canciones más populares</a:t>
            </a:r>
          </a:p>
        </p:txBody>
      </p:sp>
      <p:sp>
        <p:nvSpPr>
          <p:cNvPr id="2" name="Página 6">
            <a:extLst xmlns:a="http://schemas.openxmlformats.org/drawingml/2006/main">
              <a:ext uri="{FF2B5EF4-FFF2-40B4-BE49-F238E27FC236}">
                <a16:creationId xmlns:a16="http://schemas.microsoft.com/office/drawing/2014/main" id="{6B32E2FA-D8BE-4B73-B97E-752C2181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E927048-5D36-451A-B523-5FA0D3482421}"/>
              </a:ext>
            </a:extLst>
          </p:cNvPr>
          <p:cNvGraphicFramePr/>
          <p:nvPr/>
        </p:nvGraphicFramePr>
        <p:xfrm>
          <a:off xmlns:a="http://schemas.openxmlformats.org/drawingml/2006/main" x="685800" y="1314450"/>
          <a:ext xmlns:a="http://schemas.openxmlformats.org/drawingml/2006/main" cx="6286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ebbf6c1701486b"/>
          </a:graphicData>
        </a:graphic>
      </p:graphicFrame>
      <p:sp>
        <p:nvSpPr>
          <p:cNvPr id="4" name="KPI retrospectivo del 10 % superior">
            <a:extLst xmlns:a="http://schemas.openxmlformats.org/drawingml/2006/main">
              <a:ext uri="{FF2B5EF4-FFF2-40B4-BE49-F238E27FC236}">
                <a16:creationId xmlns:a16="http://schemas.microsoft.com/office/drawing/2014/main" id="{0DC10C8D-046B-4FC2-9DC7-72EFFB5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KPI retrospectivo del 10 % superior</a:t>
            </a:r>
          </a:p>
        </p:txBody>
      </p:sp>
      <p:sp>
        <p:nvSpPr>
          <p:cNvPr id="5" name="159 / 653&#10;recuperadas&#10;&#10;Precisión 8,9 %&#10;Recall 24,3 %&#10;Lift 2,">
            <a:extLst xmlns:a="http://schemas.openxmlformats.org/drawingml/2006/main">
              <a:ext uri="{FF2B5EF4-FFF2-40B4-BE49-F238E27FC236}">
                <a16:creationId xmlns:a16="http://schemas.microsoft.com/office/drawing/2014/main" id="{51076ED9-0526-46AC-8760-01421493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1D"/>
                </a:solidFill>
                <a:latin typeface="Arial"/>
                <a:ea typeface="Arial"/>
                <a:cs typeface="Arial"/>
              </a:rPr>
              <a:t>159 / 653</a:t>
            </a:r>
          </a:p>
          <a:p xmlns:a="http://schemas.openxmlformats.org/drawingml/2006/main">
            <a: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1D"/>
                </a:solidFill>
                <a:latin typeface="Arial"/>
                <a:ea typeface="Arial"/>
                <a:cs typeface="Arial"/>
              </a:rPr>
              <a:t>recuperadas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1D"/>
                </a:solidFill>
                <a:latin typeface="Arial"/>
                <a:ea typeface="Arial"/>
                <a:cs typeface="Arial"/>
              </a:rPr>
              <a:t>Precisión 8,9 %</a:t>
            </a:r>
          </a:p>
          <a:p xmlns:a="http://schemas.openxmlformats.org/drawingml/2006/main">
            <a: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1D"/>
                </a:solidFill>
                <a:latin typeface="Arial"/>
                <a:ea typeface="Arial"/>
                <a:cs typeface="Arial"/>
              </a:rPr>
              <a:t>Recall 24,3 %</a:t>
            </a:r>
          </a:p>
          <a:p xmlns:a="http://schemas.openxmlformats.org/drawingml/2006/main">
            <a:pPr algn="l">
              <a:defRPr sz="2100" b="1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31D"/>
                </a:solidFill>
                <a:latin typeface="Arial"/>
                <a:ea typeface="Arial"/>
                <a:cs typeface="Arial"/>
              </a:rPr>
              <a:t>Lift 2,435</a:t>
            </a:r>
          </a:p>
        </p:txBody>
      </p:sp>
      <p:sp>
        <p:nvSpPr>
          <p:cNvPr id="6" name="La prevalencia de popularidad ≥ 70 en esta prueba es 3,6 %. ">
            <a:extLst xmlns:a="http://schemas.openxmlformats.org/drawingml/2006/main">
              <a:ext uri="{FF2B5EF4-FFF2-40B4-BE49-F238E27FC236}">
                <a16:creationId xmlns:a16="http://schemas.microsoft.com/office/drawing/2014/main" id="{F8D80A67-2033-4B89-B0AE-D0F8FDF2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>
            <a:def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La prevalencia de popularidad ≥ 70 en esta prueba es 3,6 %. El KPI es retrospectivo, no valida beneficio comercial.</a:t>
            </a:r>
          </a:p>
        </p:txBody>
      </p:sp>
    </p:spTree>
    <p:extLst>
      <p:ext uri="{BB962C8B-B14F-4D97-AF65-F5344CB8AC3E}">
        <p14:creationId xmlns:p14="http://schemas.microsoft.com/office/powerpoint/2010/main" val="102028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7">
            <a:extLst xmlns:a="http://schemas.openxmlformats.org/drawingml/2006/main">
              <a:ext uri="{FF2B5EF4-FFF2-40B4-BE49-F238E27FC236}">
                <a16:creationId xmlns:a16="http://schemas.microsoft.com/office/drawing/2014/main" id="{B8290F95-23DC-47BA-BE52-0B6DED56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K-Means resume dos perfiles acústicos</a:t>
            </a:r>
          </a:p>
        </p:txBody>
      </p:sp>
      <p:sp>
        <p:nvSpPr>
          <p:cNvPr id="2" name="Página 7">
            <a:extLst xmlns:a="http://schemas.openxmlformats.org/drawingml/2006/main">
              <a:ext uri="{FF2B5EF4-FFF2-40B4-BE49-F238E27FC236}">
                <a16:creationId xmlns:a16="http://schemas.microsoft.com/office/drawing/2014/main" id="{B0C2B37F-E06B-4C09-8056-2E498F3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A44EE-A50F-4FB8-AEED-F8C39918C7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97c1ed54f4553"/>
          <a:stretch xmlns:a="http://schemas.openxmlformats.org/drawingml/2006/main"/>
        </p:blipFill>
        <p:spPr>
          <a:xfrm xmlns:a="http://schemas.openxmlformats.org/drawingml/2006/main">
            <a:off x="634580" y="1257300"/>
            <a:ext cx="6760414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K = 2&#10;Silueta 0,245&#10;&#10;54.011 canciones&#10;Perfil más energético ">
            <a:extLst xmlns:a="http://schemas.openxmlformats.org/drawingml/2006/main">
              <a:ext uri="{FF2B5EF4-FFF2-40B4-BE49-F238E27FC236}">
                <a16:creationId xmlns:a16="http://schemas.microsoft.com/office/drawing/2014/main" id="{7B12BB05-E87E-4E66-B0E8-FB255380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429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K = 2</a:t>
            </a:r>
          </a:p>
          <a:p xmlns:a="http://schemas.openxmlformats.org/drawingml/2006/main">
            <a: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Silueta 0,245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54.011 canciones</a:t>
            </a:r>
          </a:p>
          <a:p xmlns:a="http://schemas.openxmlformats.org/drawingml/2006/main">
            <a: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Perfil más energético y sonoro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17.781 canciones</a:t>
            </a:r>
          </a:p>
          <a:p xmlns:a="http://schemas.openxmlformats.org/drawingml/2006/main">
            <a: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Perfil más acústico y tranquilo</a:t>
            </a:r>
          </a:p>
        </p:txBody>
      </p:sp>
      <p:sp>
        <p:nvSpPr>
          <p:cNvPr id="5" name="PCA explica 44,1 % en 2D; el resto de la variación no aparec">
            <a:extLst xmlns:a="http://schemas.openxmlformats.org/drawingml/2006/main">
              <a:ext uri="{FF2B5EF4-FFF2-40B4-BE49-F238E27FC236}">
                <a16:creationId xmlns:a16="http://schemas.microsoft.com/office/drawing/2014/main" id="{05BBD8F9-5992-4877-9B0D-A808B04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1012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PCA explica 44,1 % en 2D; el resto de la variación no aparece en la gráfica. K-Means se ajustó en las 10 variables escaladas.</a:t>
            </a:r>
          </a:p>
        </p:txBody>
      </p:sp>
    </p:spTree>
    <p:extLst>
      <p:ext uri="{BB962C8B-B14F-4D97-AF65-F5344CB8AC3E}">
        <p14:creationId xmlns:p14="http://schemas.microsoft.com/office/powerpoint/2010/main" val="1462062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ítulo 8">
            <a:extLst xmlns:a="http://schemas.openxmlformats.org/drawingml/2006/main">
              <a:ext uri="{FF2B5EF4-FFF2-40B4-BE49-F238E27FC236}">
                <a16:creationId xmlns:a16="http://schemas.microsoft.com/office/drawing/2014/main" id="{15592367-1ABE-4228-90D7-A6EF6FAB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Conclusiones y uso responsable</a:t>
            </a:r>
          </a:p>
        </p:txBody>
      </p:sp>
      <p:sp>
        <p:nvSpPr>
          <p:cNvPr id="2" name="Página 8">
            <a:extLst xmlns:a="http://schemas.openxmlformats.org/drawingml/2006/main">
              <a:ext uri="{FF2B5EF4-FFF2-40B4-BE49-F238E27FC236}">
                <a16:creationId xmlns:a16="http://schemas.microsoft.com/office/drawing/2014/main" id="{F8034D15-B590-4BD4-A3B7-5CCE1232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164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45A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3" name="Qué respalda la evidencia">
            <a:extLst xmlns:a="http://schemas.openxmlformats.org/drawingml/2006/main">
              <a:ext uri="{FF2B5EF4-FFF2-40B4-BE49-F238E27FC236}">
                <a16:creationId xmlns:a16="http://schemas.microsoft.com/office/drawing/2014/main" id="{5C8DCB02-64CB-4635-8EE6-45321719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B954"/>
                </a:solidFill>
                <a:latin typeface="Arial"/>
                <a:ea typeface="Arial"/>
                <a:cs typeface="Arial"/>
              </a:rPr>
              <a:t>Qué respalda la evidencia</a:t>
            </a:r>
          </a:p>
        </p:txBody>
      </p:sp>
      <p:sp>
        <p:nvSpPr>
          <p:cNvPr id="4" name="Ridge con géneros es el mejor candidato medido. Puede apoyar">
            <a:extLst xmlns:a="http://schemas.openxmlformats.org/drawingml/2006/main">
              <a:ext uri="{FF2B5EF4-FFF2-40B4-BE49-F238E27FC236}">
                <a16:creationId xmlns:a16="http://schemas.microsoft.com/office/drawing/2014/main" id="{943C1EA5-40AE-4A66-BE1E-9DFA7977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810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Ridge con géneros es el mejor candidato medido. Puede apoyar una revisión humana de catálogos comparables y ayudar a auditar errores por segmentos.</a:t>
            </a:r>
          </a:p>
        </p:txBody>
      </p:sp>
      <p:sp>
        <p:nvSpPr>
          <p:cNvPr id="5" name="Qué no demuestra">
            <a:extLst xmlns:a="http://schemas.openxmlformats.org/drawingml/2006/main">
              <a:ext uri="{FF2B5EF4-FFF2-40B4-BE49-F238E27FC236}">
                <a16:creationId xmlns:a16="http://schemas.microsoft.com/office/drawing/2014/main" id="{271ACF1A-0876-4FAD-BE81-2D4F800A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981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8136"/>
                </a:solidFill>
                <a:latin typeface="Arial"/>
                <a:ea typeface="Arial"/>
                <a:cs typeface="Arial"/>
              </a:rPr>
              <a:t>Qué no demuestra</a:t>
            </a:r>
          </a:p>
        </p:txBody>
      </p:sp>
      <p:sp>
        <p:nvSpPr>
          <p:cNvPr id="6" name="No demuestra causalidad, utilidad comercial ni éxito futuro.">
            <a:extLst xmlns:a="http://schemas.openxmlformats.org/drawingml/2006/main">
              <a:ext uri="{FF2B5EF4-FFF2-40B4-BE49-F238E27FC236}">
                <a16:creationId xmlns:a16="http://schemas.microsoft.com/office/drawing/2014/main" id="{3DD3194B-37F7-4A97-840A-FA3618F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31D"/>
                </a:solidFill>
                <a:latin typeface="Arial"/>
                <a:ea typeface="Arial"/>
                <a:cs typeface="Arial"/>
              </a:rPr>
              <a:t>No demuestra causalidad, utilidad comercial ni éxito futuro. Faltan fechas, playlists, región, promoción y exposición de oyentes; el balance por género limita la generalización.</a:t>
            </a:r>
          </a:p>
        </p:txBody>
      </p:sp>
      <p:sp>
        <p:nvSpPr>
          <p:cNvPr id="7" name="Próximo paso para uso real: incorporar contexto temporal y v">
            <a:extLst xmlns:a="http://schemas.openxmlformats.org/drawingml/2006/main">
              <a:ext uri="{FF2B5EF4-FFF2-40B4-BE49-F238E27FC236}">
                <a16:creationId xmlns:a16="http://schemas.microsoft.com/office/drawing/2014/main" id="{7A50E09E-C726-4C09-90BB-29BFFCE0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23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51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51D"/>
                </a:solidFill>
                <a:latin typeface="Arial"/>
                <a:ea typeface="Arial"/>
                <a:cs typeface="Arial"/>
              </a:rPr>
              <a:t>Próximo paso para uso real: incorporar contexto temporal y validar prospectivamente antes de cualquier decisión.</a:t>
            </a:r>
          </a:p>
        </p:txBody>
      </p:sp>
    </p:spTree>
    <p:extLst>
      <p:ext uri="{BB962C8B-B14F-4D97-AF65-F5344CB8AC3E}">
        <p14:creationId xmlns:p14="http://schemas.microsoft.com/office/powerpoint/2010/main" val="1817595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2026-10-25T22:37:41.6670000Z</dcterms:created>
  <dcterms:modified xsi:type="dcterms:W3CDTF">2026-10-25T22:37:41.6670000Z</dcterms:modified>
</coreProperties>
</file>